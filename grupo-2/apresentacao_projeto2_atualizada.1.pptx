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2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</c:v>
                </c:pt>
              </c:strCache>
            </c:strRef>
          </c:tx>
          <c:spPr>
            <a:ln w="38100" cap="flat">
              <a:solidFill>
                <a:srgbClr val="1C2B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2B5E"/>
              </a:solidFill>
              <a:ln w="9525" cap="flat">
                <a:solidFill>
                  <a:srgbClr val="1C2B5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C2B5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N=10</c:v>
                </c:pt>
                <c:pt idx="1">
                  <c:v>N=20</c:v>
                </c:pt>
                <c:pt idx="2">
                  <c:v>N=50</c:v>
                </c:pt>
                <c:pt idx="3">
                  <c:v>N=100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1.6000000000000001E-4</c:v>
                </c:pt>
                <c:pt idx="1">
                  <c:v>4.1E-5</c:v>
                </c:pt>
                <c:pt idx="2">
                  <c:v>1.4E-5</c:v>
                </c:pt>
                <c:pt idx="3">
                  <c:v>6.9E-6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4A-43DC-8936-D39F7360B8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173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1" y="0"/>
            <a:ext cx="5943599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/home/claude/uff_logo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685800" y="548640"/>
            <a:ext cx="1828800" cy="2057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7889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Federal</a:t>
            </a:r>
            <a:endParaRPr lang="en-US" sz="13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Fluminense – UFF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82880" y="35478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MCCT – Modelagem Computacional</a:t>
            </a:r>
            <a:endParaRPr lang="en-US" sz="100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Ciência e Tecnologia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8288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Reinaldo</a:t>
            </a:r>
            <a:endParaRPr lang="en-US" sz="950" dirty="0">
              <a:solidFill>
                <a:srgbClr val="002060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3474720" y="5029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Comparativa pelo Modelo de Euler–Bernoulli</a:t>
            </a:r>
          </a:p>
          <a:p>
            <a:pPr marL="0" indent="0" algn="l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3474720" y="91440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3474720" y="105156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Flexão de uma Viga Compósita por</a:t>
            </a:r>
          </a:p>
          <a:p>
            <a:pPr marL="0" indent="0" algn="l">
              <a:buNone/>
            </a:pPr>
            <a:r>
              <a:rPr lang="pt-BR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Finitas, Elementos Finitos</a:t>
            </a:r>
          </a:p>
          <a:p>
            <a:pPr marL="0" indent="0" algn="l">
              <a:buNone/>
            </a:pPr>
            <a:r>
              <a:rPr lang="pt-BR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Redes Neurais com Física Embutida</a:t>
            </a:r>
          </a:p>
        </p:txBody>
      </p:sp>
      <p:sp>
        <p:nvSpPr>
          <p:cNvPr id="10" name="Text 7"/>
          <p:cNvSpPr/>
          <p:nvPr/>
        </p:nvSpPr>
        <p:spPr>
          <a:xfrm>
            <a:off x="3474720" y="3017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Numéricos Aplicados às Equações Diferenciais Parciais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474720" y="3456432"/>
            <a:ext cx="539496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474720" y="3566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 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Neideson Tavares Viana  |  Natan Cerqueira Amorim  |  Rodrigo Afonso de Souza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3474720" y="4069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Redonda, RJ — Junho de 2026</a:t>
            </a:r>
            <a:endParaRPr lang="en-US" sz="1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apresentação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– MCCT  |  Métodos Numéricos para EDPs  |  Projeto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5E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1155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e Objetivos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3167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vigas compósitas? Modelo de Euler–Bernoulli.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5E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20116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Matemática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2128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segunda ordem, condições de contorno e interface.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5E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29077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Diferenças Finitas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31089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Discretização, sistemas tridiagonais, convergência.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803904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5E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38039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Elementos Finitos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40050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fraca, matriz de rigidez, comparação com MDF.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1115568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5E"/>
                </a:solidFill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38928" y="11155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com Física (PINNs)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38928" y="13167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função de perda, treinamento.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011680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634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5E"/>
                </a:solidFill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38928" y="20116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Numéricos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38928" y="22128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w(x), M(x), V(x), tabela comparativa, erros.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2907792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5E"/>
                </a:solidFill>
              </a:rPr>
              <a:t>07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38928" y="29077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do Contraste de Rigidez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38928" y="31089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de r = E₂I₂/E₁I₁ e impacto em w_max.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3803904"/>
            <a:ext cx="384048" cy="38404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5E"/>
                </a:solidFill>
              </a:rPr>
              <a:t>08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38928" y="38039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38928" y="40050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comparativa e recomendações.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480560" y="1078992"/>
            <a:ext cx="0" cy="3566160"/>
          </a:xfrm>
          <a:prstGeom prst="line">
            <a:avLst/>
          </a:prstGeom>
          <a:noFill/>
          <a:ln w="1016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 e Objetivos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Vigas compósitas na engenharia moderna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– MCCT  |  Métodos Numéricos para EDPs  |  Projeto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160520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4160520" cy="3200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11556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Práticas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81328"/>
            <a:ext cx="3977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Pás de turbinas eólicas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Asas e longarinas de aeronaves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Vigas de pontes com reforços locais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Laminados poliméricos e compósitos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Implantes biomecânicos (fêmur, tíbia)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estruturais com emendas ou reparos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15568"/>
            <a:ext cx="4160520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115568"/>
            <a:ext cx="4160520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11556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deste Projeto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481328"/>
            <a:ext cx="3977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 comparar MDF, MEF e PINN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w(x), M(x) e V(x) para viga compósita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condições de continuidade na interface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efeito do contraste E₂I₂/E₁I₁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Quantificar erros relativos entre os métodos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Matemática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Euler–Bernoulli e sistema de 2ª ordem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– MCCT  |  Métodos Numéricos para EDPs  |  Projeto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3931920" cy="1417320"/>
          </a:xfrm>
          <a:prstGeom prst="rect">
            <a:avLst/>
          </a:prstGeom>
          <a:solidFill>
            <a:srgbClr val="EEF1F8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14300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Geometria e Rigidez EI(x)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408176"/>
            <a:ext cx="3749040" cy="1005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2651760"/>
            <a:ext cx="3931920" cy="1234440"/>
          </a:xfrm>
          <a:prstGeom prst="rect">
            <a:avLst/>
          </a:prstGeom>
          <a:solidFill>
            <a:srgbClr val="EEF1F8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84048" y="26791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Equação de Euler–Bernoulli (4ª ordem)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4048" y="296265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d²/dx² [EI(x) d²w/dx²] = q(x)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4048" y="325526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w(0)=0,  w(L)=0,  M(0)=0,  M(L)=0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34840" y="1115568"/>
            <a:ext cx="4389120" cy="274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434840" y="1115568"/>
            <a:ext cx="4389120" cy="3200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80560" y="11155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Desacoplamento em 2ª Ordem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26280" y="1481328"/>
            <a:ext cx="42062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— Resolver M(x):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d²M/dx² = −q(x),    M(0)=M(L)=0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— Recuperar w(x):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d²w/dx² = −M(x)/EI(x),   w(0)=w(L)=0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— Esforço cortante: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V(x) = dM/dx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434840" y="3950208"/>
            <a:ext cx="4389120" cy="713232"/>
          </a:xfrm>
          <a:prstGeom prst="rect">
            <a:avLst/>
          </a:prstGeom>
          <a:solidFill>
            <a:srgbClr val="FFF8E8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434840" y="3950208"/>
            <a:ext cx="91440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90288" y="400507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x = L/2: continuidade de w, w', M e V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0040" y="3950208"/>
            <a:ext cx="3931920" cy="713232"/>
          </a:xfrm>
          <a:prstGeom prst="rect">
            <a:avLst/>
          </a:prstGeom>
          <a:solidFill>
            <a:srgbClr val="F0F4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11480" y="40050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Parâmetros: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1 m,  E₁I₁ = 1 N·m²,  E₂I₂ = 4 N·m²,  q₀ = 1 N/m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Diferenças Finitas (MDF)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Discretização centrada de 2ª ordem – dois sistemas tridiagonais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– MCCT  |  Métodos Numéricos para EDPs  |  Projeto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3931920" cy="2103120"/>
          </a:xfrm>
          <a:prstGeom prst="rect">
            <a:avLst/>
          </a:prstGeom>
          <a:solidFill>
            <a:srgbClr val="EEF1F8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Numérico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444752"/>
            <a:ext cx="3794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Malha: xᵢ = ih,  h = L/N,  i = 0,…,N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d²f/dx²(xᵢ) ≈ (fᵢ₋₁ − 2fᵢ + fᵢ₊₁)/h²  + O(h²)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para M: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Mᵢ₋₁ − 2Mᵢ + Mᵢ₊₁ = −q₀h²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para w: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wᵢ₋₁ − 2wᵢ + wᵢ₊₁ = −(Mᵢ/EIᵢ)h²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310128"/>
            <a:ext cx="39319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333756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do MDF (w_max vs. N)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39312"/>
          <a:ext cx="3822192" cy="13716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7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w_max 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Erro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0,100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8,312×10⁻³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1,60×10⁻⁴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0,050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8,431×10⁻³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4,10×10⁻⁵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0,020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8,458×10⁻³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1,40×10⁻⁵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0,010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8,465×10⁻³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6,90×10⁻⁶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0,005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8371A"/>
                          </a:solidFill>
                        </a:rPr>
                        <a:t>8,472×10⁻³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434840" y="1115568"/>
            <a:ext cx="438912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98848" y="1152144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Convergência</a:t>
            </a:r>
            <a:endParaRPr lang="en-US" sz="11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480560" y="1417320"/>
          <a:ext cx="4251960" cy="3127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2"/>
          <p:cNvSpPr/>
          <p:nvPr/>
        </p:nvSpPr>
        <p:spPr>
          <a:xfrm>
            <a:off x="5303520" y="44988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p ≈ 2  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Elementos Finitos (MEF)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fraca, montagem e matriz de rigidez de Euler–Bernoulli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– MCCT  |  Métodos Numéricos para EDPs  |  Projeto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114800" cy="3611880"/>
          </a:xfrm>
          <a:prstGeom prst="rect">
            <a:avLst/>
          </a:prstGeom>
          <a:solidFill>
            <a:srgbClr val="EEF1F8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Formulação Variacional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444752"/>
            <a:ext cx="40050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Fraca (equação de M):</a:t>
            </a:r>
            <a:endParaRPr lang="en-US" sz="105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∫₀ᴸ (dv/dx)(dM/dx) dx = ∫₀ᴸ q·v dx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Elementar de Rigidez:</a:t>
            </a:r>
            <a:endParaRPr lang="en-US" sz="105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Kₑ = (1/hₑ)[1 −1; −1 1]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de Carga Elementar:</a:t>
            </a:r>
            <a:endParaRPr lang="en-US" sz="105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fₑ = (q₀hₑ/2)[1; 1]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Viga E-B (4 GDL/elemento):</a:t>
            </a:r>
            <a:endParaRPr lang="en-US" sz="105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Kₑ = (EI/hₑ³) × [12, 6h, −12, 6h;</a:t>
            </a:r>
            <a:endParaRPr lang="en-US" sz="105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6h, 4h², −6h, 2h²;</a:t>
            </a:r>
            <a:endParaRPr lang="en-US" sz="105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−12,−6h,  12,−6h;</a:t>
            </a:r>
            <a:endParaRPr lang="en-US" sz="105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6h, 2h², −6h, 4h²]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115568"/>
            <a:ext cx="420624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1115568"/>
            <a:ext cx="4206240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115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MDF × MEF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81328"/>
          <a:ext cx="4069080" cy="1143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Aspecto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MDF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MEF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Precisão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O(h²)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O(h²) P1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Interface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Implícita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Por elemento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Custo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Baixo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Moderado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Extensibilidade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Simples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Alta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617720" y="2788920"/>
            <a:ext cx="4206240" cy="960120"/>
          </a:xfrm>
          <a:prstGeom prst="rect">
            <a:avLst/>
          </a:prstGeom>
          <a:solidFill>
            <a:srgbClr val="F0F4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09160" y="28346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w_max MDF (N=200): 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8,472 × 10⁻³ m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w_max MEF (nₑ=100): </a:t>
            </a:r>
            <a:r>
              <a:rPr lang="en-US" sz="1100" dirty="0">
                <a:solidFill>
                  <a:srgbClr val="C83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8,423 × 10⁻³ m  (erro: 0,58%)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17720" y="3858768"/>
            <a:ext cx="4206240" cy="822960"/>
          </a:xfrm>
          <a:prstGeom prst="rect">
            <a:avLst/>
          </a:prstGeom>
          <a:solidFill>
            <a:srgbClr val="FFF8E8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617720" y="3858768"/>
            <a:ext cx="91440" cy="8229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773168" y="3904488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os métodos tratam a interface E₁I₁ → E₂I₂ implicitamente: o nó em x = L/2 recebe o valor de EI correto em cada equação.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com Física Embutida (PINNs)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função de perda e treinamento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– MCCT  |  Métodos Numéricos para EDPs  |  Projeto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069080" cy="2057400"/>
          </a:xfrm>
          <a:prstGeom prst="rect">
            <a:avLst/>
          </a:prstGeom>
          <a:solidFill>
            <a:srgbClr val="EEF1F8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069080" cy="3200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11556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Rede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3886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x ∈ ℝ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camadas ocultas × 32 neurônios  [tanh]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wθ(x) ∈ ℝ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Otimizador: Adam → L-BFGS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pontos de colocação uniformes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246120"/>
            <a:ext cx="4069080" cy="1481328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3246120"/>
            <a:ext cx="4069080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Perda ℒ(θ)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611880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 = λᵣ·ℒᵣ  +  λbc·ℒbc  +  λint·ℒint</a:t>
            </a:r>
            <a:endParaRPr lang="en-US" sz="11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λᵣ=1  (resíduo EDP)   λbc=100  (CC)   λint=10  (interface)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115568"/>
            <a:ext cx="425196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1115568"/>
            <a:ext cx="4251960" cy="3200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11155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da Função de Perda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45152" y="1508760"/>
            <a:ext cx="4096512" cy="932688"/>
          </a:xfrm>
          <a:prstGeom prst="rect">
            <a:avLst/>
          </a:prstGeom>
          <a:solidFill>
            <a:srgbClr val="EEF1F8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45152" y="1508760"/>
            <a:ext cx="91440" cy="932688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153619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Resíduo da EDP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178308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ℒᵣ = (1/Nc)Σ [d²(EI·w''θ)/dx² − q(x)]²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45152" y="2560320"/>
            <a:ext cx="4096512" cy="932688"/>
          </a:xfrm>
          <a:prstGeom prst="rect">
            <a:avLst/>
          </a:prstGeom>
          <a:solidFill>
            <a:srgbClr val="FFF8E8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45152" y="2560320"/>
            <a:ext cx="91440" cy="932688"/>
          </a:xfrm>
          <a:prstGeom prst="rect">
            <a:avLst/>
          </a:prstGeom>
          <a:solidFill>
            <a:srgbClr val="C8371A"/>
          </a:solidFill>
          <a:ln w="12700">
            <a:solidFill>
              <a:srgbClr val="C837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258775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3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de Contorno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283464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ℒbc = wθ(0)² + wθ(L)² + Mθ(0)² + Mθ(L)²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45152" y="3611880"/>
            <a:ext cx="4096512" cy="932688"/>
          </a:xfrm>
          <a:prstGeom prst="rect">
            <a:avLst/>
          </a:prstGeom>
          <a:solidFill>
            <a:srgbClr val="EEF1F8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45152" y="3611880"/>
            <a:ext cx="91440" cy="93268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363931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 na Interface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88620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ℒint = [[w]]² + [[w']]² + [[M]]² + [[V]]²  em x=L/2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4681728"/>
            <a:ext cx="4251960" cy="320040"/>
          </a:xfrm>
          <a:prstGeom prst="rect">
            <a:avLst/>
          </a:prstGeom>
          <a:solidFill>
            <a:srgbClr val="F0F4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45152" y="4709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Meshless  ✓ Incorpora dados experimentais  ✓ Alta dimensão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Deflexão Transversal w(x)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N=200 (MDF), nₑ=100 (MEF), Nc=40 (PINN)  |  E₁I₁=1, E₂I₂=4, q₀=1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– MCCT  |  Métodos Numéricos para EDPs  |  Projeto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566928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115568"/>
            <a:ext cx="2651760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172200" y="1115568"/>
            <a:ext cx="2651760" cy="3200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17920" y="11155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Resultados-chave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45352" y="1508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w_max (MDF): </a:t>
            </a:r>
            <a:r>
              <a:rPr lang="en-US" sz="105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8,472×10⁻³ 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45352" y="1938528"/>
            <a:ext cx="237744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45352" y="1965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w_max (MEF): </a:t>
            </a:r>
            <a:r>
              <a:rPr lang="en-US" sz="1050" dirty="0">
                <a:solidFill>
                  <a:srgbClr val="C83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8,423×10⁻³ 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45352" y="2395728"/>
            <a:ext cx="237744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45352" y="2423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w_max (PINN): </a:t>
            </a:r>
            <a:r>
              <a:rPr lang="en-US" sz="105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8,501×10⁻³ m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45352" y="2852928"/>
            <a:ext cx="237744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245352" y="2880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x_max: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0,42 m  (&lt; L/2)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45352" y="3310128"/>
            <a:ext cx="237744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45352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MDF-MEF: </a:t>
            </a:r>
            <a:r>
              <a:rPr lang="en-US" sz="1050" dirty="0">
                <a:solidFill>
                  <a:srgbClr val="C83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0,575%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45352" y="3767328"/>
            <a:ext cx="237744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245352" y="3794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MDF-PINN: </a:t>
            </a:r>
            <a:r>
              <a:rPr lang="en-US" sz="105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0,345%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72200" y="4645152"/>
            <a:ext cx="2651760" cy="365760"/>
          </a:xfrm>
          <a:prstGeom prst="rect">
            <a:avLst/>
          </a:prstGeom>
          <a:solidFill>
            <a:srgbClr val="FFF8E8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72200" y="4645152"/>
            <a:ext cx="91440" cy="3657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309360" y="4663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x_max &lt; L/2: efeito do contraste de rigidez.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Momento Fletor e Esforço Cortante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M(x) é independente de EI; V(x) = dM/dx é linear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– MCCT  |  Métodos Numéricos para EDPs  |  Projeto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Fletor M(x)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89888"/>
            <a:ext cx="42519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40050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M(x) = q₀x(L−x)/2  →  M_max = q₀L²/8 = 0,125 N·m  em  x = L/2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663440" y="111556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Cortante V(x)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389888"/>
            <a:ext cx="4251960" cy="2560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400507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V(x) = q₀(L/2 − x)  →  V(0) = 0,5 N (reação).  PINN: oscilações leves na interface.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480560" y="1115568"/>
            <a:ext cx="0" cy="3566160"/>
          </a:xfrm>
          <a:prstGeom prst="line">
            <a:avLst/>
          </a:prstGeom>
          <a:noFill/>
          <a:ln w="1016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20040" y="4434840"/>
            <a:ext cx="8503920" cy="502920"/>
          </a:xfrm>
          <a:prstGeom prst="rect">
            <a:avLst/>
          </a:prstGeom>
          <a:solidFill>
            <a:srgbClr val="F0F4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20040" y="4434840"/>
            <a:ext cx="109728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02920" y="44622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M(x) é determinado unicamente pelo equilíbrio (d²M/dx²=−q), independente de EI(x). Todos os três métodos reproduzem a parábola analítica com precisão de 10⁻⁶.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Comparativo — MDF, MEF e PINN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w(x), M(x) e V(x) sobrepostos para os três métodos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– MCCT  |  Métodos Numéricos para EDPs  |  Projeto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850392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4480560"/>
            <a:ext cx="8503920" cy="457200"/>
          </a:xfrm>
          <a:prstGeom prst="rect">
            <a:avLst/>
          </a:prstGeom>
          <a:solidFill>
            <a:srgbClr val="EEF1F8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45079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0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MDF (N=200)  </a:t>
            </a:r>
            <a:r>
              <a:rPr lang="en-US" sz="1100" b="1" dirty="0">
                <a:solidFill>
                  <a:srgbClr val="C83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000" dirty="0">
                <a:solidFill>
                  <a:srgbClr val="C83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MEF (nₑ=100)  </a:t>
            </a: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0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(Nc=40)  </a:t>
            </a: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Interface x=L/2 indicada por linha pontilhada cinza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Comparativa dos Métodos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Deflexão máxima, localização e erro relativo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– MCCT  |  Métodos Numéricos para EDPs  |  Projeto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1371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Método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Parâmetro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w_max [m]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x_max [m]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Erro relativo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5E"/>
                          </a:solidFill>
                        </a:rPr>
                        <a:t>MDF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 = 200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8,472 × 10⁻³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0,420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 (referência)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8371A"/>
                          </a:solidFill>
                        </a:rPr>
                        <a:t>MEF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nₑ = 100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8,423 × 10⁻³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0,420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8371A"/>
                          </a:solidFill>
                        </a:rPr>
                        <a:t>0,575%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</a:rPr>
                        <a:t>PINN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Nc = 40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8,501 × 10⁻³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0,425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</a:rPr>
                        <a:t>0,345%</a:t>
                      </a:r>
                      <a:endParaRPr lang="en-US" sz="1200" dirty="0"/>
                    </a:p>
                  </a:txBody>
                  <a:tcPr>
                    <a:lnL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8046720" cy="237743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Aspecto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MDF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MEF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PINN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Formulação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Diferenças centradas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Forma fraca + GDL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Rede neural + AD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Ordem de precisão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O(h²)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O(h²) — P1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Depende da arquitetura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Custo computacional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Baixo — tridiagonal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Moderado — montagem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Alto — treinamento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Interface EI desc.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Implícita na malha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Por elemento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Penalização explícita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Geometria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Domínios simples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Arbitrária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Arbitrária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Dado experimental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Não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Não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Sim — na função de perda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do Contraste de Rigidez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de r = E₂I₂/E₁I₁  e impacto na deflexão máxima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– MCCT  |  Métodos Numéricos para EDPs  |  Projeto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w_max em função do contraste r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89888"/>
            <a:ext cx="4709160" cy="3291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212080" y="1115568"/>
            <a:ext cx="3611880" cy="2057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212080" y="1115568"/>
            <a:ext cx="3611880" cy="3200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57800" y="11155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Numéricos (MDF, N=200)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481328"/>
          <a:ext cx="3493008" cy="157276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w_max [m]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2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x_max [m]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2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1,302×10⁻²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0,500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1,037×10⁻²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0,450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8371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8371A"/>
                          </a:solidFill>
                        </a:rPr>
                        <a:t>8,472×10⁻³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0,420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7,018×10⁻³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6,000×10⁻³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0,390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212080" y="3273552"/>
            <a:ext cx="3611880" cy="1435608"/>
          </a:xfrm>
          <a:prstGeom prst="rect">
            <a:avLst/>
          </a:prstGeom>
          <a:solidFill>
            <a:srgbClr val="EEF1F8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285232" y="3310128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Física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285232" y="3602736"/>
            <a:ext cx="3465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 → viga homogênea: w_max = 5q₀L⁴/384EI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r reduz w_max e desloca x_max para esquerda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Descontinuidade de curvatura em x=L/2: w''⁻/w''⁺ = 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comparativa e recomendações para projeto mecânico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– MCCT  |  Métodos Numéricos para EDPs  |  Projeto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11480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38912" cy="1078992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4389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143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métodos convergem</a:t>
            </a:r>
            <a:endParaRPr lang="en-US" sz="1100" dirty="0">
              <a:solidFill>
                <a:srgbClr val="1C2B5E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14173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relativos &lt;0,6% na deflexão máxima — MDF, MEF e PINN são equivalentes para este problema.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350008"/>
            <a:ext cx="411480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350008"/>
            <a:ext cx="438912" cy="107899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350008"/>
            <a:ext cx="4389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23774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fora do centro geométrico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6517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w_max em x≈0,42 m (&lt; L/2): consequência do contraste de rigidez. EI maior na metade direita endurece aquela região.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584448"/>
            <a:ext cx="411480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584448"/>
            <a:ext cx="438912" cy="10789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584448"/>
            <a:ext cx="4389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36118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M(x) independe de EI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8862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de momento fletor é determinado apenas pelo equilíbrio, reproduzindo a parábola analítica com precisão de 10⁻⁶.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115568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1115568"/>
            <a:ext cx="438912" cy="1078992"/>
          </a:xfrm>
          <a:prstGeom prst="rect">
            <a:avLst/>
          </a:prstGeom>
          <a:solidFill>
            <a:srgbClr val="C8371A"/>
          </a:solidFill>
          <a:ln w="12700">
            <a:solidFill>
              <a:srgbClr val="C837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1115568"/>
            <a:ext cx="4389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④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663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 descontinuidade de curvatura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14173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salto w''/w''⁺ = r = 4 é capturado naturalmente por MDF/MEF. A PINN requer penalização explícita (λ_int = 10).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350008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2350008"/>
            <a:ext cx="438912" cy="1078992"/>
          </a:xfrm>
          <a:prstGeom prst="rect">
            <a:avLst/>
          </a:prstGeom>
          <a:solidFill>
            <a:srgbClr val="5A5A8A"/>
          </a:solidFill>
          <a:ln w="12700">
            <a:solidFill>
              <a:srgbClr val="5A5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2350008"/>
            <a:ext cx="4389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⑤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6636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do método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2651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MDF: problemas simples. MEF: geometria/carregamento complexo. PINN: dados experimentais ou domínios de alta dimensão.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584448"/>
            <a:ext cx="4160520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CDD2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584448"/>
            <a:ext cx="438912" cy="1078992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3584448"/>
            <a:ext cx="4389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⑥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16636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de rigidez como ferramenta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38862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r reduz w_max e desloca o pico. Mecanismo valioso para otimização de peso e controle estrutural.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5E"/>
          </a:solidFill>
          <a:ln w="12700">
            <a:solidFill>
              <a:srgbClr val="1C2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64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Bibliográficas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UFF – MCCT  |  Métodos Numéricos para EDPs  |  Projeto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4828032"/>
            <a:ext cx="8503920" cy="0"/>
          </a:xfrm>
          <a:prstGeom prst="line">
            <a:avLst/>
          </a:prstGeom>
          <a:noFill/>
          <a:ln w="635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TIMOSHENKO, S. P.; GERE, J. M. Theory of Elastic Stability. 2. ed. New York: McGraw-Hill, 1961.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8138160" cy="0"/>
          </a:xfrm>
          <a:prstGeom prst="line">
            <a:avLst/>
          </a:prstGeom>
          <a:noFill/>
          <a:ln w="508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3677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REDDY, J. N. An Introduction to the Finite Element Method. 3. ed. New York: McGraw-Hill, 2006.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020824"/>
            <a:ext cx="8138160" cy="0"/>
          </a:xfrm>
          <a:prstGeom prst="line">
            <a:avLst/>
          </a:prstGeom>
          <a:noFill/>
          <a:ln w="508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LEVEQUE, R. J. Finite Difference Methods for Ordinary and Partial Differential Equations. Philadelphia: SIAM, 2007.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487168"/>
            <a:ext cx="8138160" cy="0"/>
          </a:xfrm>
          <a:prstGeom prst="line">
            <a:avLst/>
          </a:prstGeom>
          <a:noFill/>
          <a:ln w="508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5694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RAISSI, M.; PERDIKARIS, P.; KARNIADAKIS, G. E. Physics-Informed Neural Networks. Journal of Computational Physics, v. 378, p. 686–707, 2019.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953512"/>
            <a:ext cx="8138160" cy="0"/>
          </a:xfrm>
          <a:prstGeom prst="line">
            <a:avLst/>
          </a:prstGeom>
          <a:noFill/>
          <a:ln w="508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0358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CHAPRA, S. C.; CANALE, R. P. Métodos Numéricos para Engenharia. 5. ed. Porto Alegre: AMGH, 2011.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19856"/>
            <a:ext cx="8138160" cy="0"/>
          </a:xfrm>
          <a:prstGeom prst="line">
            <a:avLst/>
          </a:prstGeom>
          <a:noFill/>
          <a:ln w="508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5021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BURDEN, R. L.; FAIRES, J. D. Análise Numérica. 2. ed. São Paulo: Cengage Learning, 2013.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8138160" cy="0"/>
          </a:xfrm>
          <a:prstGeom prst="line">
            <a:avLst/>
          </a:prstGeom>
          <a:noFill/>
          <a:ln w="508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96849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EULER, L. Methodus Inveniendi Lineas Curvas. Lausanne: Bousquet, 1744.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352544"/>
            <a:ext cx="8138160" cy="0"/>
          </a:xfrm>
          <a:prstGeom prst="line">
            <a:avLst/>
          </a:prstGeom>
          <a:noFill/>
          <a:ln w="508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434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BERNOULLI, J. Curvatura Laminae Elasticae. Acta Eruditorum, 1694.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818888"/>
            <a:ext cx="8138160" cy="0"/>
          </a:xfrm>
          <a:prstGeom prst="line">
            <a:avLst/>
          </a:prstGeom>
          <a:noFill/>
          <a:ln w="5080">
            <a:solidFill>
              <a:srgbClr val="CDD2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8B559866-AF4C-92F7-51EC-D60F08F70E8B}"/>
              </a:ext>
            </a:extLst>
          </p:cNvPr>
          <p:cNvSpPr/>
          <p:nvPr/>
        </p:nvSpPr>
        <p:spPr>
          <a:xfrm>
            <a:off x="0" y="0"/>
            <a:ext cx="9143999" cy="514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7432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400" dirty="0">
              <a:solidFill>
                <a:srgbClr val="1C2B5E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0" y="363931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MCCT — UFF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0050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Neideson Tavares Viana  |  Natan Cerqueira Amorim  |  Rodrigo Afonso de Souza</a:t>
            </a:r>
            <a:endParaRPr lang="en-US" sz="1100" dirty="0">
              <a:solidFill>
                <a:srgbClr val="1C2B5E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43159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000" i="1" dirty="0">
                <a:solidFill>
                  <a:srgbClr val="1C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Reinaldo —  Maio 2026</a:t>
            </a:r>
          </a:p>
        </p:txBody>
      </p:sp>
      <p:pic>
        <p:nvPicPr>
          <p:cNvPr id="9" name="Image 0" descr="/home/claude/uff_logo.png">
            <a:extLst>
              <a:ext uri="{FF2B5EF4-FFF2-40B4-BE49-F238E27FC236}">
                <a16:creationId xmlns:a16="http://schemas.microsoft.com/office/drawing/2014/main" id="{4F4C54CE-D6AE-A362-91DC-B8F3BEA9880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>
          <a:xfrm>
            <a:off x="3657600" y="612648"/>
            <a:ext cx="18288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2245</Words>
  <Application>Microsoft Office PowerPoint</Application>
  <PresentationFormat>Apresentação na tela (16:9)</PresentationFormat>
  <Paragraphs>322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Flexão de Viga Compósita: MDF, MEF e PINNs</dc:title>
  <dc:subject>PptxGenJS Presentation</dc:subject>
  <dc:creator>Projeto 2 – UFF MCCT</dc:creator>
  <cp:lastModifiedBy>NATAN CERQUEIRA AMORIM</cp:lastModifiedBy>
  <cp:revision>2</cp:revision>
  <dcterms:created xsi:type="dcterms:W3CDTF">2026-06-15T03:13:17Z</dcterms:created>
  <dcterms:modified xsi:type="dcterms:W3CDTF">2026-06-27T03:10:29Z</dcterms:modified>
</cp:coreProperties>
</file>